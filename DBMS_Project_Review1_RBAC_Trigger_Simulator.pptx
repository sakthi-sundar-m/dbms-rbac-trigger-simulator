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thi Sundar" userId="ca1601ce0942ade2" providerId="LiveId" clId="{5D6E0554-2E90-4CEA-9232-3B680218B4DA}"/>
    <pc:docChg chg="custSel modSld">
      <pc:chgData name="Sakthi Sundar" userId="ca1601ce0942ade2" providerId="LiveId" clId="{5D6E0554-2E90-4CEA-9232-3B680218B4DA}" dt="2026-09-17T10:55:03.675" v="41" actId="207"/>
      <pc:docMkLst>
        <pc:docMk/>
      </pc:docMkLst>
      <pc:sldChg chg="modSp mod">
        <pc:chgData name="Sakthi Sundar" userId="ca1601ce0942ade2" providerId="LiveId" clId="{5D6E0554-2E90-4CEA-9232-3B680218B4DA}" dt="2026-09-17T10:54:07.332" v="40" actId="20577"/>
        <pc:sldMkLst>
          <pc:docMk/>
          <pc:sldMk cId="0" sldId="256"/>
        </pc:sldMkLst>
        <pc:spChg chg="mod">
          <ac:chgData name="Sakthi Sundar" userId="ca1601ce0942ade2" providerId="LiveId" clId="{5D6E0554-2E90-4CEA-9232-3B680218B4DA}" dt="2026-09-17T10:54:07.332" v="40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Sakthi Sundar" userId="ca1601ce0942ade2" providerId="LiveId" clId="{5D6E0554-2E90-4CEA-9232-3B680218B4DA}" dt="2026-09-17T10:55:03.675" v="41" actId="207"/>
        <pc:sldMkLst>
          <pc:docMk/>
          <pc:sldMk cId="0" sldId="258"/>
        </pc:sldMkLst>
        <pc:spChg chg="mod">
          <ac:chgData name="Sakthi Sundar" userId="ca1601ce0942ade2" providerId="LiveId" clId="{5D6E0554-2E90-4CEA-9232-3B680218B4DA}" dt="2026-09-17T10:55:03.675" v="41" actId="207"/>
          <ac:spMkLst>
            <pc:docMk/>
            <pc:sldMk cId="0" sldId="258"/>
            <ac:spMk id="18" creationId="{00000000-0000-0000-0000-000000000000}"/>
          </ac:spMkLst>
        </pc:spChg>
      </pc:sldChg>
      <pc:sldChg chg="addSp delSp modSp mod">
        <pc:chgData name="Sakthi Sundar" userId="ca1601ce0942ade2" providerId="LiveId" clId="{5D6E0554-2E90-4CEA-9232-3B680218B4DA}" dt="2026-09-17T07:47:29.242" v="33" actId="14100"/>
        <pc:sldMkLst>
          <pc:docMk/>
          <pc:sldMk cId="0" sldId="264"/>
        </pc:sldMkLst>
        <pc:picChg chg="del">
          <ac:chgData name="Sakthi Sundar" userId="ca1601ce0942ade2" providerId="LiveId" clId="{5D6E0554-2E90-4CEA-9232-3B680218B4DA}" dt="2026-09-17T07:40:53.230" v="10" actId="478"/>
          <ac:picMkLst>
            <pc:docMk/>
            <pc:sldMk cId="0" sldId="264"/>
            <ac:picMk id="25" creationId="{CDC0299C-5FAF-5BEC-53E3-F9B675811FAC}"/>
          </ac:picMkLst>
        </pc:picChg>
        <pc:picChg chg="add del mod">
          <ac:chgData name="Sakthi Sundar" userId="ca1601ce0942ade2" providerId="LiveId" clId="{5D6E0554-2E90-4CEA-9232-3B680218B4DA}" dt="2026-09-17T07:45:53.092" v="17" actId="478"/>
          <ac:picMkLst>
            <pc:docMk/>
            <pc:sldMk cId="0" sldId="264"/>
            <ac:picMk id="26" creationId="{E13E1430-39BB-63FA-6CBF-5EC1017C4AD3}"/>
          </ac:picMkLst>
        </pc:picChg>
        <pc:picChg chg="del">
          <ac:chgData name="Sakthi Sundar" userId="ca1601ce0942ade2" providerId="LiveId" clId="{5D6E0554-2E90-4CEA-9232-3B680218B4DA}" dt="2026-09-17T07:40:58.127" v="11" actId="478"/>
          <ac:picMkLst>
            <pc:docMk/>
            <pc:sldMk cId="0" sldId="264"/>
            <ac:picMk id="27" creationId="{EA0FD4BE-E284-59C0-D72D-6F83A9605C8E}"/>
          </ac:picMkLst>
        </pc:picChg>
        <pc:picChg chg="del">
          <ac:chgData name="Sakthi Sundar" userId="ca1601ce0942ade2" providerId="LiveId" clId="{5D6E0554-2E90-4CEA-9232-3B680218B4DA}" dt="2026-09-17T07:41:00.923" v="12" actId="478"/>
          <ac:picMkLst>
            <pc:docMk/>
            <pc:sldMk cId="0" sldId="264"/>
            <ac:picMk id="29" creationId="{0FDFAA1E-BAA5-01DC-8C61-0685CA63C3F0}"/>
          </ac:picMkLst>
        </pc:picChg>
        <pc:picChg chg="add del mod">
          <ac:chgData name="Sakthi Sundar" userId="ca1601ce0942ade2" providerId="LiveId" clId="{5D6E0554-2E90-4CEA-9232-3B680218B4DA}" dt="2026-09-17T07:45:53.092" v="17" actId="478"/>
          <ac:picMkLst>
            <pc:docMk/>
            <pc:sldMk cId="0" sldId="264"/>
            <ac:picMk id="30" creationId="{0D2A3C1A-5609-DD88-548F-C1735FB41889}"/>
          </ac:picMkLst>
        </pc:picChg>
        <pc:picChg chg="del">
          <ac:chgData name="Sakthi Sundar" userId="ca1601ce0942ade2" providerId="LiveId" clId="{5D6E0554-2E90-4CEA-9232-3B680218B4DA}" dt="2026-09-17T07:41:03.458" v="13" actId="478"/>
          <ac:picMkLst>
            <pc:docMk/>
            <pc:sldMk cId="0" sldId="264"/>
            <ac:picMk id="31" creationId="{4F7D6C78-65BD-858B-3C66-0A8704A70E40}"/>
          </ac:picMkLst>
        </pc:picChg>
        <pc:picChg chg="del">
          <ac:chgData name="Sakthi Sundar" userId="ca1601ce0942ade2" providerId="LiveId" clId="{5D6E0554-2E90-4CEA-9232-3B680218B4DA}" dt="2026-09-17T07:41:05.662" v="14" actId="478"/>
          <ac:picMkLst>
            <pc:docMk/>
            <pc:sldMk cId="0" sldId="264"/>
            <ac:picMk id="33" creationId="{979A553E-B663-6755-A0C7-E2331406BC5D}"/>
          </ac:picMkLst>
        </pc:picChg>
        <pc:picChg chg="add del mod">
          <ac:chgData name="Sakthi Sundar" userId="ca1601ce0942ade2" providerId="LiveId" clId="{5D6E0554-2E90-4CEA-9232-3B680218B4DA}" dt="2026-09-17T07:45:53.092" v="17" actId="478"/>
          <ac:picMkLst>
            <pc:docMk/>
            <pc:sldMk cId="0" sldId="264"/>
            <ac:picMk id="34" creationId="{7E7BAC53-C609-0CBB-64B4-A51A48758B27}"/>
          </ac:picMkLst>
        </pc:picChg>
        <pc:picChg chg="add mod">
          <ac:chgData name="Sakthi Sundar" userId="ca1601ce0942ade2" providerId="LiveId" clId="{5D6E0554-2E90-4CEA-9232-3B680218B4DA}" dt="2026-09-17T07:46:25.145" v="22" actId="14100"/>
          <ac:picMkLst>
            <pc:docMk/>
            <pc:sldMk cId="0" sldId="264"/>
            <ac:picMk id="36" creationId="{680B5D15-7670-21C4-5BCB-CA75E05AA4A1}"/>
          </ac:picMkLst>
        </pc:picChg>
        <pc:picChg chg="add mod">
          <ac:chgData name="Sakthi Sundar" userId="ca1601ce0942ade2" providerId="LiveId" clId="{5D6E0554-2E90-4CEA-9232-3B680218B4DA}" dt="2026-09-17T07:47:01.875" v="28" actId="14100"/>
          <ac:picMkLst>
            <pc:docMk/>
            <pc:sldMk cId="0" sldId="264"/>
            <ac:picMk id="38" creationId="{11B2AC18-D725-CC73-37FC-693E37EBAF8F}"/>
          </ac:picMkLst>
        </pc:picChg>
        <pc:picChg chg="add mod">
          <ac:chgData name="Sakthi Sundar" userId="ca1601ce0942ade2" providerId="LiveId" clId="{5D6E0554-2E90-4CEA-9232-3B680218B4DA}" dt="2026-09-17T07:47:29.242" v="33" actId="14100"/>
          <ac:picMkLst>
            <pc:docMk/>
            <pc:sldMk cId="0" sldId="264"/>
            <ac:picMk id="40" creationId="{D0137F6F-7FE3-7F14-B79E-D4E9B1B95A46}"/>
          </ac:picMkLst>
        </pc:picChg>
      </pc:sldChg>
      <pc:sldChg chg="delSp mod">
        <pc:chgData name="Sakthi Sundar" userId="ca1601ce0942ade2" providerId="LiveId" clId="{5D6E0554-2E90-4CEA-9232-3B680218B4DA}" dt="2026-09-17T07:38:30.624" v="0" actId="478"/>
        <pc:sldMkLst>
          <pc:docMk/>
          <pc:sldMk cId="0" sldId="265"/>
        </pc:sldMkLst>
        <pc:spChg chg="del">
          <ac:chgData name="Sakthi Sundar" userId="ca1601ce0942ade2" providerId="LiveId" clId="{5D6E0554-2E90-4CEA-9232-3B680218B4DA}" dt="2026-09-17T07:38:30.624" v="0" actId="478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Sakthi Sundar" userId="ca1601ce0942ade2" providerId="LiveId" clId="{5D6E0554-2E90-4CEA-9232-3B680218B4DA}" dt="2026-09-17T07:38:35.792" v="2" actId="20577"/>
        <pc:sldMkLst>
          <pc:docMk/>
          <pc:sldMk cId="0" sldId="266"/>
        </pc:sldMkLst>
        <pc:spChg chg="mod">
          <ac:chgData name="Sakthi Sundar" userId="ca1601ce0942ade2" providerId="LiveId" clId="{5D6E0554-2E90-4CEA-9232-3B680218B4DA}" dt="2026-09-17T07:38:35.792" v="2" actId="20577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Sakthi Sundar" userId="ca1601ce0942ade2" providerId="LiveId" clId="{5D6E0554-2E90-4CEA-9232-3B680218B4DA}" dt="2026-09-17T07:38:41.443" v="3" actId="20577"/>
        <pc:sldMkLst>
          <pc:docMk/>
          <pc:sldMk cId="0" sldId="267"/>
        </pc:sldMkLst>
        <pc:spChg chg="mod">
          <ac:chgData name="Sakthi Sundar" userId="ca1601ce0942ade2" providerId="LiveId" clId="{5D6E0554-2E90-4CEA-9232-3B680218B4DA}" dt="2026-09-17T07:38:41.443" v="3" actId="20577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Sakthi Sundar" userId="ca1601ce0942ade2" providerId="LiveId" clId="{5D6E0554-2E90-4CEA-9232-3B680218B4DA}" dt="2026-09-17T07:40:22.664" v="9" actId="207"/>
        <pc:sldMkLst>
          <pc:docMk/>
          <pc:sldMk cId="0" sldId="269"/>
        </pc:sldMkLst>
        <pc:spChg chg="mod">
          <ac:chgData name="Sakthi Sundar" userId="ca1601ce0942ade2" providerId="LiveId" clId="{5D6E0554-2E90-4CEA-9232-3B680218B4DA}" dt="2026-09-17T07:40:15.597" v="8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Sakthi Sundar" userId="ca1601ce0942ade2" providerId="LiveId" clId="{5D6E0554-2E90-4CEA-9232-3B680218B4DA}" dt="2026-09-17T07:39:10.181" v="4" actId="208"/>
          <ac:spMkLst>
            <pc:docMk/>
            <pc:sldMk cId="0" sldId="269"/>
            <ac:spMk id="21" creationId="{00000000-0000-0000-0000-000000000000}"/>
          </ac:spMkLst>
        </pc:spChg>
        <pc:spChg chg="mod">
          <ac:chgData name="Sakthi Sundar" userId="ca1601ce0942ade2" providerId="LiveId" clId="{5D6E0554-2E90-4CEA-9232-3B680218B4DA}" dt="2026-09-17T07:40:22.664" v="9" actId="207"/>
          <ac:spMkLst>
            <pc:docMk/>
            <pc:sldMk cId="0" sldId="269"/>
            <ac:spMk id="25" creationId="{00000000-0000-0000-0000-000000000000}"/>
          </ac:spMkLst>
        </pc:spChg>
        <pc:spChg chg="mod">
          <ac:chgData name="Sakthi Sundar" userId="ca1601ce0942ade2" providerId="LiveId" clId="{5D6E0554-2E90-4CEA-9232-3B680218B4DA}" dt="2026-09-17T07:40:07.310" v="7" actId="208"/>
          <ac:spMkLst>
            <pc:docMk/>
            <pc:sldMk cId="0" sldId="269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07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632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503920" y="3931920"/>
            <a:ext cx="4754880" cy="4754880"/>
          </a:xfrm>
          <a:prstGeom prst="ellipse">
            <a:avLst/>
          </a:prstGeom>
          <a:ln w="15875">
            <a:solidFill>
              <a:srgbClr val="3B4A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 •  DBMS PROJECT REVIEW 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Users &amp; Roles Simulator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Trigger Visualizer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dynamic Role-Based Access Control and autonomous trigger-driven workflows for a secure core banking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709160"/>
            <a:ext cx="5852160" cy="0"/>
          </a:xfrm>
          <a:prstGeom prst="line">
            <a:avLst/>
          </a:prstGeom>
          <a:noFill/>
          <a:ln w="12700">
            <a:solidFill>
              <a:srgbClr val="4452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0292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Sakthi Sundar (25BCE1244)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Swaminathan A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secure, granular access control and enforcing strict financial workflows in modern banking systems is highly complex.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290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challenge on two fronts: visualizing how Role-Based Access Control isolates sensitive data, and demonstrating how invisible database triggers enforce compliance in real time.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86600" y="173736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60920" y="1993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36092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938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Isolation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30428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Role-Based Access Control securely isolates sensitive banking data by role.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86600" y="3703320"/>
            <a:ext cx="4526280" cy="1691640"/>
          </a:xfrm>
          <a:prstGeom prst="roundRect">
            <a:avLst>
              <a:gd name="adj" fmla="val 4324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60920" y="39593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6092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904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Triggers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27024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triggers enforce compliance, prevent fraud, and maintain audit trails without front-end logic.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10512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highly secure Core Banking environment using dynamic Role-Based Access Control (RBAC).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72968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85800" y="35387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8580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91840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financial rules and state-machine workflows, such as loan approvals, strictly at the database level.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654296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EAF0FB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5800" y="50200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8580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773168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query and visualize database privileges directly from PostgreSQL system catalogs.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257800" cy="128016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1810512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real-time UI components to visualize background trigger executions and their impact on data.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172968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00800" y="35387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40080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291840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secure simulator on a public cloud platform for live demonstration.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83112" cy="1024128"/>
          </a:xfrm>
          <a:prstGeom prst="roundRect">
            <a:avLst>
              <a:gd name="adj" fmla="val 53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8013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UI / UX Routing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1856232"/>
            <a:ext cx="0" cy="694944"/>
          </a:xfrm>
          <a:prstGeom prst="line">
            <a:avLst/>
          </a:prstGeom>
          <a:noFill/>
          <a:ln w="12700">
            <a:solidFill>
              <a:srgbClr val="8FA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212080" y="1783080"/>
            <a:ext cx="6153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(Python) drives dynamic user interaction and visualizes execution paths.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21324" y="2720340"/>
            <a:ext cx="146304" cy="109728"/>
          </a:xfrm>
          <a:prstGeom prst="down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11183112" cy="1024128"/>
          </a:xfrm>
          <a:prstGeom prst="roundRect">
            <a:avLst>
              <a:gd name="adj" fmla="val 5357"/>
            </a:avLst>
          </a:prstGeom>
          <a:solidFill>
            <a:srgbClr val="334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22960" y="29443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Data &amp; Security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2999232"/>
            <a:ext cx="0" cy="694944"/>
          </a:xfrm>
          <a:prstGeom prst="line">
            <a:avLst/>
          </a:prstGeom>
          <a:noFill/>
          <a:ln w="12700">
            <a:solidFill>
              <a:srgbClr val="8FA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212080" y="2926080"/>
            <a:ext cx="6153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 Serverless) handles data storage, constraint enforcement, and business logic.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21324" y="3863340"/>
            <a:ext cx="146304" cy="109728"/>
          </a:xfrm>
          <a:prstGeom prst="down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183112" cy="1024128"/>
          </a:xfrm>
          <a:prstGeom prst="roundRect">
            <a:avLst>
              <a:gd name="adj" fmla="val 53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40873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4142232"/>
            <a:ext cx="0" cy="694944"/>
          </a:xfrm>
          <a:prstGeom prst="line">
            <a:avLst/>
          </a:prstGeom>
          <a:noFill/>
          <a:ln w="12700">
            <a:solidFill>
              <a:srgbClr val="8FA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212080" y="4069080"/>
            <a:ext cx="6153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intercepts invalid inputs pre-transmission; PostgreSQL strictly enforces table/column-level grants.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21324" y="5006340"/>
            <a:ext cx="146304" cy="109728"/>
          </a:xfrm>
          <a:prstGeom prst="downArrow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5120640"/>
            <a:ext cx="11183112" cy="1024128"/>
          </a:xfrm>
          <a:prstGeom prst="roundRect">
            <a:avLst>
              <a:gd name="adj" fmla="val 5357"/>
            </a:avLst>
          </a:prstGeom>
          <a:solidFill>
            <a:srgbClr val="334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22960" y="52303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37760" y="5285232"/>
            <a:ext cx="0" cy="694944"/>
          </a:xfrm>
          <a:prstGeom prst="line">
            <a:avLst/>
          </a:prstGeom>
          <a:noFill/>
          <a:ln w="12700">
            <a:solidFill>
              <a:srgbClr val="8FA3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212080" y="5212080"/>
            <a:ext cx="6153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triggers act as an invisible, tamper-proof state machine validating every transaction.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Core Banking Tables 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57784" y="1737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EAF0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86384" y="1993392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335024" y="19385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customer_profiles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KYC and personal information.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737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EAF0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62856" y="1993392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111496" y="19385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customer_accounts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account statuses and current balances.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0728" y="173736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EAF0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39328" y="1993392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887968" y="19385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daily_transactions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financial transfers between accounts.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7784" y="39593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86384" y="4215384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335024" y="4160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fraud_alerts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73659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suspicious activities and investigation statuses.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34256" y="39593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62856" y="4215384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111496" y="4160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loan_applications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62856" y="473659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loan requests and underwriting pipelines.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0728" y="3959352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39328" y="4215384"/>
            <a:ext cx="384048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887968" y="4160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339328" y="473659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history of critical system actions.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42607C1-1C95-93CD-9951-879D9C09F85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57898" y="2061972"/>
            <a:ext cx="270401" cy="246888"/>
          </a:xfrm>
          <a:prstGeom prst="rect">
            <a:avLst/>
          </a:prstGeom>
          <a:ln>
            <a:noFill/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D8880CE-30B7-079E-34C1-51665908992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612495" y="2061972"/>
            <a:ext cx="270401" cy="246888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DBD5EC6-FB5E-C943-4E08-7FB420A7BDD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8353044" y="2000626"/>
            <a:ext cx="356616" cy="34747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85C82D3-9FAF-67A5-8418-BBAA447F567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814225" y="4219956"/>
            <a:ext cx="328365" cy="33832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D428CD9-4874-B5B5-0A07-5FC76652D1CF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4530852" y="4233689"/>
            <a:ext cx="448056" cy="36574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DC5A923-43AA-9638-44F3-83A2B5F39F4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39328" y="4233689"/>
            <a:ext cx="420624" cy="347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Hierarchy — Operational Roles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514344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20" y="17830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Teller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146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ACCESS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INSERT new accounts and UPDATE balances during deposits and withdrawals, but lacks administrative authority.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78308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37304" y="1783080"/>
            <a:ext cx="3514344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65904" y="17830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25146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292608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surgical UPDATE privileges on account_status (freeze/close), fraud alert status, and final loan approval status.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1688" y="178308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71688" y="1783080"/>
            <a:ext cx="3514344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400288" y="17830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00288" y="25146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INVESTIGATION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00288" y="292608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INSERT and SELECT on fraud_alerts, but strictly restricted from freezing accounts or modifying balances.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Hierarchy — Specialized Roles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514344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20" y="17830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Underwriter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146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VETTING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UPDATE access restricted solely to moving a loan application to the underwriting phase.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78308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37304" y="1783080"/>
            <a:ext cx="3514344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65904" y="17830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Admin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25146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MONITORING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292608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holds SELECT access to the immutable audit_log to track employee actions.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1688" y="1783080"/>
            <a:ext cx="3514344" cy="40233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71688" y="1783080"/>
            <a:ext cx="3514344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400288" y="17830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Auditor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00288" y="25146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OVERSIGHT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00288" y="2926080"/>
            <a:ext cx="30571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read-only oversight — broad SELECT permissions across all core tables to verify financial compliance.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Implementation Strategy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Privilege Queries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031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application does not rely on hardcoded permissions — it actively queries PostgreSQL's information_schema (role_table_grants and role_column_grants).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10698480" cy="0"/>
          </a:xfrm>
          <a:prstGeom prst="line">
            <a:avLst/>
          </a:prstGeom>
          <a:noFill/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029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Security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04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are surgical: Branch Managers can update the account_status column but are blocked by the database from updating the balance column.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10698480" cy="0"/>
          </a:xfrm>
          <a:prstGeom prst="line">
            <a:avLst/>
          </a:prstGeom>
          <a:noFill/>
          <a:ln w="12700">
            <a:solidFill>
              <a:srgbClr val="E2E7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4617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029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572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93776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options are dynamically rendered (allowed) or disabled (blocked) based exclusively on the active role's verified PostgreSQL privileges.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9516" y="178308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9516" y="1783080"/>
            <a:ext cx="5120640" cy="365760"/>
          </a:xfrm>
          <a:prstGeom prst="rect">
            <a:avLst/>
          </a:prstGeom>
          <a:solidFill>
            <a:srgbClr val="E2E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4108" y="1911096"/>
            <a:ext cx="109728" cy="109728"/>
          </a:xfrm>
          <a:prstGeom prst="ellipse">
            <a:avLst/>
          </a:prstGeom>
          <a:solidFill>
            <a:srgbClr val="AEB8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20140" y="1911096"/>
            <a:ext cx="109728" cy="109728"/>
          </a:xfrm>
          <a:prstGeom prst="ellipse">
            <a:avLst/>
          </a:prstGeom>
          <a:solidFill>
            <a:srgbClr val="AEB8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6172" y="1911096"/>
            <a:ext cx="109728" cy="109728"/>
          </a:xfrm>
          <a:prstGeom prst="ellipse">
            <a:avLst/>
          </a:prstGeom>
          <a:solidFill>
            <a:srgbClr val="AEB8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848356" y="2880360"/>
            <a:ext cx="822960" cy="822960"/>
          </a:xfrm>
          <a:prstGeom prst="ellipse">
            <a:avLst/>
          </a:prstGeom>
          <a:solidFill>
            <a:srgbClr val="EAF0FB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574036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73836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Role-Switching Dashboard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73836" y="5852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lets the reviewer switch between the six operational roles and immediately view the resulting privilege 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2569" y="178308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68796" y="1783080"/>
            <a:ext cx="5120640" cy="365760"/>
          </a:xfrm>
          <a:prstGeom prst="rect">
            <a:avLst/>
          </a:prstGeom>
          <a:solidFill>
            <a:srgbClr val="E2E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33388" y="1911096"/>
            <a:ext cx="109728" cy="109728"/>
          </a:xfrm>
          <a:prstGeom prst="ellipse">
            <a:avLst/>
          </a:prstGeom>
          <a:solidFill>
            <a:srgbClr val="AEB8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89420" y="1911096"/>
            <a:ext cx="109728" cy="109728"/>
          </a:xfrm>
          <a:prstGeom prst="ellipse">
            <a:avLst/>
          </a:prstGeom>
          <a:solidFill>
            <a:srgbClr val="AEB8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045452" y="1911096"/>
            <a:ext cx="109728" cy="109728"/>
          </a:xfrm>
          <a:prstGeom prst="ellipse">
            <a:avLst/>
          </a:prstGeom>
          <a:solidFill>
            <a:srgbClr val="AEB8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517636" y="2880360"/>
            <a:ext cx="822960" cy="822960"/>
          </a:xfrm>
          <a:prstGeom prst="ellipse">
            <a:avLst/>
          </a:prstGeom>
          <a:solidFill>
            <a:srgbClr val="EAF0FB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243316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643116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Feedback — Allowed vs. Denied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43116" y="5852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options render as enabled or disabled in real time, based purely on the active role's verified PostgreSQL grants.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80B5D15-7670-21C4-5BCB-CA75E05A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" y="1783080"/>
            <a:ext cx="5126736" cy="356616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1B2AC18-D725-CC73-37FC-693E37EBA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568" y="1783079"/>
            <a:ext cx="5120641" cy="187451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0137F6F-7FE3-7F14-B79E-D4E9B1B95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568" y="3657595"/>
            <a:ext cx="5120641" cy="1691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Trigger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54396" cy="1874520"/>
          </a:xfrm>
          <a:prstGeom prst="roundRect">
            <a:avLst>
              <a:gd name="adj" fmla="val 3415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58952" y="1901952"/>
            <a:ext cx="3899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Firewall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39996" y="1920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39996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24028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process_transaction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578608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KYC, checks for frozen accounts, and blocks transfers where fraud alerts exist.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1636" y="1737360"/>
            <a:ext cx="5454396" cy="1874520"/>
          </a:xfrm>
          <a:prstGeom prst="roundRect">
            <a:avLst>
              <a:gd name="adj" fmla="val 3415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87668" y="1901952"/>
            <a:ext cx="3899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268712" y="19202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0268712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24028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check_loan_eligibility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578608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“loan stacking” and blocks applications from customers with compromised accounts.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54396" cy="1874520"/>
          </a:xfrm>
          <a:prstGeom prst="roundRect">
            <a:avLst>
              <a:gd name="adj" fmla="val 3415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58952" y="4005072"/>
            <a:ext cx="3899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State Machine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39996" y="40233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539996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UPDATE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434340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enforce_loan_workflow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681728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linear, role-based approvals (Submitted → Underwrite → Approved) using SECURITY DEFINER.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1636" y="3840480"/>
            <a:ext cx="5454396" cy="1874520"/>
          </a:xfrm>
          <a:prstGeom prst="roundRect">
            <a:avLst>
              <a:gd name="adj" fmla="val 3415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87668" y="4005072"/>
            <a:ext cx="3899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10268712" y="40233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10268712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487668" y="434340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log_audit_event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87668" y="4681728"/>
            <a:ext cx="49514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records all account and loan status changes into the audit_log.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Execution Trace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02920" y="17373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triggers run invisibly in the backend, a dedicated UI module will visualize this hidden execution step-by-step for the user.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90779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029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0720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“Live Trace” checklist in the UI showing each validation step as it runs.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1363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0292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130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PostgreSQL exception messages directly to visual UI alerts, educating users on exactly which database rule blocked an action.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1737360"/>
            <a:ext cx="5029200" cy="4206240"/>
          </a:xfrm>
          <a:prstGeom prst="roundRect">
            <a:avLst>
              <a:gd name="adj" fmla="val 15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94944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51460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2A36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132320" y="2514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514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 passed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329184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2A36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132320" y="3291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291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status: active (not frozen)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0" y="406908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2A36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132320" y="4069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069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 failed — alert on 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49440" y="484632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2A36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132320" y="4846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846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blocked before insert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State Diff Viewer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visually demonstrate the direct impact of complex trigger executions on the underlying database tables.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a dynamic UI component captures the data state before an action and contrasts it with the resulting state — e.g. sender and receiver balances updating simultaneously once the process_transaction trigger fires successfully.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5236" y="3429000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F4F6FA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019556" y="3593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" y="40233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balance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1588" y="4023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42,500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19556" y="459028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balance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1588" y="45902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12,800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19556" y="515721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status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1588" y="51572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3076" y="3429000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EAF0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597396" y="3593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97396" y="40233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balance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39428" y="4023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37,500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97396" y="459028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balance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39428" y="45902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17,800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97396" y="515721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status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39428" y="515721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39028" y="4462272"/>
            <a:ext cx="310896" cy="310896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14344" cy="3383280"/>
          </a:xfrm>
          <a:prstGeom prst="roundRect">
            <a:avLst>
              <a:gd name="adj" fmla="val 2162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40052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94005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Platform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Python UI to Streamlit Community Cloud for public accessibility and live demonstration.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7304" y="1828800"/>
            <a:ext cx="3514344" cy="3383280"/>
          </a:xfrm>
          <a:prstGeom prst="roundRect">
            <a:avLst>
              <a:gd name="adj" fmla="val 2162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774436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77443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301752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1624" y="356616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connectivity to the Neon Serverless PostgreSQL database for robust, scalable backend operations.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1688" y="1828800"/>
            <a:ext cx="3514344" cy="3383280"/>
          </a:xfrm>
          <a:prstGeom prst="roundRect">
            <a:avLst>
              <a:gd name="adj" fmla="val 2162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6088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6088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00288" y="3017520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46008" y="356616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database credentials from plain text code to Streamlit's encrypted secrets.toml vault to protect administrative access on public GitHub repositories.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Project Workflow Timeline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51560" y="2331720"/>
            <a:ext cx="10085832" cy="0"/>
          </a:xfrm>
          <a:prstGeom prst="line">
            <a:avLst/>
          </a:prstGeom>
          <a:noFill/>
          <a:ln w="254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05256" y="2185416"/>
            <a:ext cx="292608" cy="2926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371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2148840" cy="2468880"/>
          </a:xfrm>
          <a:prstGeom prst="roundRect">
            <a:avLst>
              <a:gd name="adj" fmla="val 2553"/>
            </a:avLst>
          </a:prstGeom>
          <a:solidFill>
            <a:srgbClr val="EAF0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E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Setup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modeling, Neon Postgres configuration, core table creation.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6714" y="2185416"/>
            <a:ext cx="292608" cy="2926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658618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98598" y="2651760"/>
            <a:ext cx="2148840" cy="2468880"/>
          </a:xfrm>
          <a:prstGeom prst="roundRect">
            <a:avLst>
              <a:gd name="adj" fmla="val 2553"/>
            </a:avLst>
          </a:prstGeom>
          <a:solidFill>
            <a:srgbClr val="EAF0FB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2635758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E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635758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Implementation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35758" y="37033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creation, privilege assignment, dynamic UI integration via information_schema.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8172" y="2185416"/>
            <a:ext cx="292608" cy="292608"/>
          </a:xfrm>
          <a:prstGeom prst="ellipse">
            <a:avLst/>
          </a:prstGeom>
          <a:solidFill>
            <a:schemeClr val="tx2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180076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0056" y="2651760"/>
            <a:ext cx="2148840" cy="2468880"/>
          </a:xfrm>
          <a:prstGeom prst="roundRect">
            <a:avLst>
              <a:gd name="adj" fmla="val 2553"/>
            </a:avLst>
          </a:prstGeom>
          <a:solidFill>
            <a:srgbClr val="EAF0FB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157216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157216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Engineering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57216" y="37033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PL/pgSQL functions for firewalls, state machines, and audit logging.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69630" y="2185416"/>
            <a:ext cx="292608" cy="292608"/>
          </a:xfrm>
          <a:prstGeom prst="ellipse">
            <a:avLst/>
          </a:prstGeom>
          <a:solidFill>
            <a:schemeClr val="tx2"/>
          </a:solidFill>
          <a:ln w="25400">
            <a:solidFill>
              <a:srgbClr val="B7C2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701534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41514" y="2651760"/>
            <a:ext cx="2148840" cy="2468880"/>
          </a:xfrm>
          <a:prstGeom prst="roundRect">
            <a:avLst>
              <a:gd name="adj" fmla="val 2553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7678674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678674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Visualizers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78674" y="37033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the Execution Trace and Before/After Diff Viewer.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991088" y="218541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7C2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10222992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37192" y="2651760"/>
            <a:ext cx="2148840" cy="2468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674352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674352" y="30632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674352" y="370332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deployment, secrets management, and final documentation.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37392" y="320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7802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097280" y="2350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426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255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097280" y="3127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198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interactive UI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03250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097280" y="39044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 Serverless)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1970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80974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97280" y="4681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74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connector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21488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172200" y="2258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Official Documentation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5786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on information_schema, PL/pgSQL trigger functions, and Role-Based Access Control.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338328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172200" y="3493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Documentation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8130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for UI components, session state, and secure secrets management.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46177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172200" y="4727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50474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security, Defense-in-Depth, and the Principle of Least Privilege applied to financial systems.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519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Users &amp; Roles Simulator and Trigger Visualizer  |  Project Review 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1353</Words>
  <Application>Microsoft Office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Sakthi Sundar</cp:lastModifiedBy>
  <cp:revision>3</cp:revision>
  <dcterms:created xsi:type="dcterms:W3CDTF">2026-09-17T03:06:16Z</dcterms:created>
  <dcterms:modified xsi:type="dcterms:W3CDTF">2026-09-17T10:55:12Z</dcterms:modified>
</cp:coreProperties>
</file>